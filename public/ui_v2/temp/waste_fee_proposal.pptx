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1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2B1E"/>
                </a:solidFill>
                <a:latin typeface="Arial"/>
              </a:rPr>
              <a:t>เปรียบเทียบรายรับ vs ต้นทุน (บาท/ปี)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รายรับค่าธรรมเนียม</c:v>
                </c:pt>
              </c:strCache>
            </c:strRef>
          </c:tx>
          <c:spPr>
            <a:solidFill>
              <a:srgbClr val="2AA0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อปท. ชนบท ทั่วไป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ค่าทิ้งขยะ (ต้นทุนจริง)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อปท. ชนบท ทั่วไป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4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097280"/>
            <a:ext cx="3200400" cy="3200400"/>
          </a:xfrm>
          <a:prstGeom prst="ellipse">
            <a:avLst/>
          </a:prstGeom>
          <a:solidFill>
            <a:srgbClr val="1A7A44">
              <a:alpha val="30000"/>
            </a:srgbClr>
          </a:solidFill>
          <a:ln w="12700">
            <a:solidFill>
              <a:srgbClr val="1A7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457200"/>
            <a:ext cx="2011680" cy="2011680"/>
          </a:xfrm>
          <a:prstGeom prst="ellipse">
            <a:avLst/>
          </a:prstGeom>
          <a:solidFill>
            <a:srgbClr val="2AA05A">
              <a:alpha val="40000"/>
            </a:srgbClr>
          </a:solidFill>
          <a:ln w="12700">
            <a:solidFill>
              <a:srgbClr val="2AA05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657600"/>
            <a:ext cx="2560320" cy="2560320"/>
          </a:xfrm>
          <a:prstGeom prst="ellipse">
            <a:avLst/>
          </a:prstGeom>
          <a:solidFill>
            <a:srgbClr val="1A7A44">
              <a:alpha val="25000"/>
            </a:srgbClr>
          </a:solidFill>
          <a:ln w="12700">
            <a:solidFill>
              <a:srgbClr val="1A7A44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แก้วิกฤตขยะ อปท. ชนบท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แนวทางลดต้นทุนค่ากำจัดขยะ และเพิ่มประสิทธิภาพการจัดเก็บรายได้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สำหรับองค์กรปกครองส่วนท้องถิ่น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286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429000"/>
            <a:ext cx="2606040" cy="1234440"/>
          </a:xfrm>
          <a:prstGeom prst="rect">
            <a:avLst/>
          </a:prstGeom>
          <a:solidFill>
            <a:srgbClr val="1A7A44">
              <a:alpha val="40000"/>
            </a:srgbClr>
          </a:solidFill>
          <a:ln w="12700">
            <a:solidFill>
              <a:srgbClr val="2AA05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456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40416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รายรับค่าธรรมเนียม/ปี (บาท)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29000"/>
            <a:ext cx="2606040" cy="1234440"/>
          </a:xfrm>
          <a:prstGeom prst="rect">
            <a:avLst/>
          </a:prstGeom>
          <a:solidFill>
            <a:srgbClr val="1A7A44">
              <a:alpha val="40000"/>
            </a:srgbClr>
          </a:solidFill>
          <a:ln w="12700">
            <a:solidFill>
              <a:srgbClr val="2AA05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456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40416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ค่าทิ้งขยะ/ปี (บาท)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2606040" cy="1234440"/>
          </a:xfrm>
          <a:prstGeom prst="rect">
            <a:avLst/>
          </a:prstGeom>
          <a:solidFill>
            <a:srgbClr val="1A7A44">
              <a:alpha val="40000"/>
            </a:srgbClr>
          </a:solidFill>
          <a:ln w="12700">
            <a:solidFill>
              <a:srgbClr val="2AA05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456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ภาระที่ อปท. แบกรับเอง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สภาพปัญหา: ช่องว่างทางการเงินที่วิกฤต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960120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960120"/>
            <a:ext cx="91440" cy="804672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996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รายรับค่าธรรมเนียม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289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0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~100,000 บาท/ปี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03520" y="1920240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1920240"/>
            <a:ext cx="9144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956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ค่าทิ้งขยะ (ต้นทุน)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0" y="22494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 ล้านบาท/ปี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03520" y="2880360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2880360"/>
            <a:ext cx="91440" cy="80467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ขาดดุลสุทธิ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320954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1.9–3.9 ล้านบาท/ปี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03520" y="3840480"/>
            <a:ext cx="3566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03520" y="3840480"/>
            <a:ext cx="91440" cy="804672"/>
          </a:xfrm>
          <a:prstGeom prst="rect">
            <a:avLst/>
          </a:prstGeom>
          <a:solidFill>
            <a:srgbClr val="3D5A45"/>
          </a:solidFill>
          <a:ln w="12700">
            <a:solidFill>
              <a:srgbClr val="3D5A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3877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อัตราเก็บค่าธรรมเนียม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416966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ได้ไม่ครบทุกหลัง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วงจรปัญหาที่ซ้อนทับกัน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914400"/>
            <a:ext cx="1920240" cy="91440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914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ไม่แยกขยะ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1920240" cy="914400"/>
          </a:xfrm>
          <a:prstGeom prst="ellipse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ขยะมีน้ำปนมาก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น้ำหนักสูง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192024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3291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ค่าทิ้งขยะแพง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ล้าน/ปี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566160"/>
            <a:ext cx="192024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566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อปท. ขาดงบ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บริการแย่ลง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1920240" cy="9144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560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เก็บขยะ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ไม่ทั่วถึง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1188720"/>
            <a:ext cx="1920240" cy="9144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ประชาชนไม่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อยากจ่ายค่าธรรมเนียม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891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4884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48840" y="1115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F74"/>
                </a:solidFill>
              </a:rPr>
              <a:t>↗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83280" y="1965960"/>
            <a:ext cx="2286000" cy="1234440"/>
          </a:xfrm>
          <a:prstGeom prst="ellipse">
            <a:avLst/>
          </a:prstGeom>
          <a:solidFill>
            <a:srgbClr val="0D4A2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9659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วงจร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อุบาทว์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สาเหตุหลัก 3 ด้านที่ต้องแก้ไข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432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41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9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ขยะหนักเกินจริง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ขยะเปียก/อาหารมีน้ำปนสูง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ไม่มีการแยกขยะที่ต้นทาง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52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ค่าทิ้งคิดตามน้ำหนักบรรทุก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4198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น้ำหนักขยะเกินความเป็นจริง 40–60%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14400"/>
            <a:ext cx="2743200" cy="685800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941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9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46120" y="914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เก็บค่าธรรมเนียมไม่ได้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1810512"/>
            <a:ext cx="228600" cy="2286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พื้นที่กระจาย เดินเก็บเงินยาก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377440"/>
            <a:ext cx="228600" cy="2286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ไม่มีช่องทางจ่ายดิจิทัล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2944368"/>
            <a:ext cx="228600" cy="2286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2852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ไม่มีระบบติดตามลูกหนี้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511296"/>
            <a:ext cx="228600" cy="228600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34198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ไม่มีแรงจูงใจให้ประชาชนจ่าย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914400"/>
            <a:ext cx="2743200" cy="68580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941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9E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0" y="914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ขาดข้อมูลและระบบ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1810512"/>
            <a:ext cx="228600" cy="22860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ไม่รู้ว่าบ้านไหนจ่ายแล้ว/ยังไม่จ่าย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2377440"/>
            <a:ext cx="228600" cy="22860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dashboard รายรับ-รายจ่าย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2944368"/>
            <a:ext cx="228600" cy="22860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28529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ไม่ติดตามน้ำหนักขยะต่อเที่ยว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3511296"/>
            <a:ext cx="228600" cy="22860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34198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ขาดข้อมูลสนับสนุนการตัดสินใจ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แกนที่ 1  ลดต้นทุนค่าทิ้งขยะ  (ผลกระทบสูงสุด)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560320" cy="393192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ลดต้นทุน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ได้ถึง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40–60%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จากน้ำหนักขยะ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5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ที่ลดลง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520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ประหยัด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1.2–2.0 ล้านบาท/ปี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96012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96012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แจกถังหมักปุ๋ยอินทรีย์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1005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คืนทุนใน &lt; 3 เดือน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14173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ขยะเปียก/เศษอาหาร คือตัวการหลักของน้ำหนัก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ลงทุนถังละ 300–500 บาท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ลดน้ำหนักขยะที่ส่งทิ้งได้ทันที 40–60%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71800" y="228600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71800" y="228600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331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จุดคัดแยกรีไซเคิลชุมชน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สร้างรายได้เพิ่ม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74320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พลาสติก / กระดาษ / โลหะ แยกออก ไม่ต้องทิ้ง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ขายได้ 2–15 บาท/กก.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ลดปริมาณขยะที่ส่งกำจัด 15–20%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71800" y="361188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71800" y="361188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3657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เจรจาเปลี่ยนวิธีคิดค่าทิ้ง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เป็นธรรมกว่า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406908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จากน้ำหนักบรรทุก → ปริมาตร (ลบ.ม.)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 น้ำหนักแห้ง ที่สะท้อนต้นทุนจริง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ผลักดันผ่านสมาคม อปท.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แกนที่ 2  เพิ่มรายรับค่าธรรมเนียม  (เพิ่มอัตราเก็บจาก 40% → 80%)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743200" cy="640080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  ระบบจ่ายดิจิทัล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จ่ายผ่าน PromptPay / QR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จ่ายที่ 7-Eleven / Counter 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จ่ายผ่าน LINE Official Account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24 ชั่วโมง ไม่ต้องรอพนักงาน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743200" cy="64008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14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  สติ๊กเกอร์ประจำบ้าน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บ้านที่จ่ายแล้ว ติดสติ๊กเกอร์รายปี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พนักงานรู้ทันทีว่าบ้านไหนจ่ายแล้ว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สร้างแรงกดดันทางสังคมให้จ่าย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ใช้ต้นทุนต่ำ ได้ผลจริงในชุมชน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43200" cy="64008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914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  รวมเก็บกับภาษีที่ดิน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รวมค่าธรรมเนียมขยะไว้ในบิลภาษีประจำปี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ประชาชนต้องมาจ่ายอยู่แล้ว ไม่พลาด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ลดต้นทุนการเดินเก็บเงิน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เพิ่มอัตราการชำระได้ทันที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แกนที่ 3  สร้างแรงจูงใจแยกขยะ  (เชื่อมแกนที่ 1 + 2 เข้าด้วยกัน)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114800" cy="54864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  ธนาคารขยะชุมชน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ตั้งจุดรับซื้อขยะรีไซเคิลประจำหมู่บ้าน
</a:t>
            </a:r>
            <a:pPr indent="0" marL="0">
              <a:buNone/>
            </a:pPr>
            <a:r>
              <a:rPr lang="en-US" sz="125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แลกเป็นเครดิตค่าธรรมเนียมหรือของรางวัล
</a:t>
            </a:r>
            <a:pPr indent="0" marL="0">
              <a:buNone/>
            </a:pPr>
            <a:r>
              <a:rPr lang="en-US" sz="125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ของรางวัล เช่น ไข่ไก่ ปุ๋ย น้ำมันพืช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251960" cy="54864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  ลดค่าธรรมเนียมถ้าแยกขยะ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4069080" cy="1207008"/>
        </p:xfrm>
        <a:graphic>
          <a:graphicData uri="http://schemas.openxmlformats.org/drawingml/2006/table">
            <a:tbl>
              <a:tblPr/>
              <a:tblGrid>
                <a:gridCol w="2560320"/>
                <a:gridCol w="15087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พฤติกรรม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ค่าธรรมเนียม/เดือน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ไม่แยกขยะ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บาท (เต็มอัตรา)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แยกขยะเปียก/แห้ง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บาท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แยกขยะ + ทำปุ๋ยหมัก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บาท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28600" y="2971800"/>
            <a:ext cx="86868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3090672"/>
            <a:ext cx="8686800" cy="173736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136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⚖️  รองรับโดยกฎหมาย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" y="35204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กฎกระทรวงกำหนดอัตราค่าธรรมเนียมฯ พ.ศ. 2567 เปิดช่องให้ อปท. ยกเว้นหรือลดค่าธรรมเนียมสำหรับผู้ที่แยกขยะได้แล้ว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สอดคล้องกับโครงการ 'บ้านนี้ไม่เทรวม' ของกรุงเทพมหานคร ที่ลดค่าธรรมเนียมจาก 60 → 20 บาท/เดือน สำหรับผู้แยกขยะ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อปท. ทุกแห่งสามารถนำแนวทางนี้ไปประยุกต์ใช้ได้ทันที ภายใต้ข้อบัญญัติท้องถิ่น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ผลลัพธ์ที่คาดหวัง: ก่อน vs หลัง (สำหรับ อปท. 500 หลังคาเรือน)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560320"/>
                <a:gridCol w="201168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ตัวชี้วัด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ก่อนปรับปรุง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หลังปรับปรุง (ปีที่ 2)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การเปลี่ยนแปลง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9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อัตราชำระค่าธรรมเนียม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 เท่า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รายรับค่าธรรมเนียม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200,000+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+100K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น้ำหนักขยะที่ส่งทิ้ง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(ปัจจุบัน)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40–50%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ค่าทิ้งขยะ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1,500,000–1,800,000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ประหยัด 1.2–1.5M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ขาดดุลสุทธิ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~2,900,000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~1,300,000–1,600,000 บาท/ปี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ลดลง 45–55%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251960"/>
            <a:ext cx="8686800" cy="73152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42519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ประหยัดสุทธิต่อปี:  1.3 – 1.5 ล้านบาท  |  คืนทุนการลงทุนในระบบภายใน 6–12 เดือน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ระบบดิจิทัล: แกนกลางของการแก้ปัญหา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834640" cy="7315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10515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แผนที่บ้าน + สถานะชำระ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" y="16184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real-time ว่าบ้านไหนจ่ายแล้ว/ยังไม่จ่าย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วางแผนเส้นทางเก็บเงินได้อัจฉริยะ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834640" cy="7315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6472" y="10515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Code ประจำบ้าน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16184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สแกนเพื่อจ่ายผ่าน PromptPay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พนักงานสแกนบันทึกการเก็บขยะ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834640" cy="7315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48272" y="10515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บันทึกน้ำหนักขยะต่อเที่ยว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16184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ติดตามว่าน้ำหนักลดลงจากการแยกขยะหรือไม่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ใช้เป็นหลักฐานเจรจาสัญญา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" y="288036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880360"/>
            <a:ext cx="2834640" cy="7315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4672" y="2971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ระบบเครดิตแยกขยะ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35387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คำนวณส่วนลดค่าธรรมเนียมอัตโนมัติ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ติดตามคะแนนธนาคารขยะ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80360"/>
            <a:ext cx="2834640" cy="7315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76472" y="2971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ผู้บริหาร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46120" y="35387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เปรียบเทียบรายรับ vs ค่าทิ้งขยะแบบกราฟ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รายงานตามแบบฟอร์ม สถ.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80360"/>
            <a:ext cx="2834640" cy="7315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48272" y="2971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แจ้งเตือนค้างชำระ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17920" y="35387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SMS / LINE แจ้งบ้านที่ยังไม่จ่าย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ออกใบแจ้งหนี้อิเล็กทรอนิกส์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แผนการดำเนินงาน: 3 ระยะ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10972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896112"/>
            <a:ext cx="237744" cy="237744"/>
          </a:xfrm>
          <a:prstGeom prst="ellipse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67328" y="896112"/>
            <a:ext cx="237744" cy="237744"/>
          </a:xfrm>
          <a:prstGeom prst="ellipse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6832" y="896112"/>
            <a:ext cx="237744" cy="237744"/>
          </a:xfrm>
          <a:prstGeom prst="ellipse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8872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88720"/>
            <a:ext cx="2788920" cy="749808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ระยะที่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เดือน 1–3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0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วางรากฐาน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109728" cy="347472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ออกข้อบัญญัติท้องถิ่นรองรับกฎกระทรวง 2567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109728" cy="347472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723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ติดตั้งระบบดิจิทัลจัดเก็บค่าธรรมเนียม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109728" cy="347472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675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จัดทำทะเบียนบ้านและ QR Code ประจำบ้าน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109728" cy="347472"/>
          </a:xfrm>
          <a:prstGeom prst="rect">
            <a:avLst/>
          </a:prstGeom>
          <a:solidFill>
            <a:srgbClr val="2AA05A"/>
          </a:solidFill>
          <a:ln w="12700">
            <a:solidFill>
              <a:srgbClr val="2AA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อบรมพนักงานใช้ระบบ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54680" y="118872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188720"/>
            <a:ext cx="2788920" cy="749808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ระยะที่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เดือน 4–6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20116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กระตุ้นแยกขยะ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2487168"/>
            <a:ext cx="109728" cy="34747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แจกถังหมักปุ๋ยอินทรีย์ประจำหลังคาเรือน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3090672"/>
            <a:ext cx="109728" cy="34747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30723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เปิดธนาคารขยะนำร่อง 2–3 หมู่บ้าน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0" y="3694176"/>
            <a:ext cx="109728" cy="34747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675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เริ่มโครงการลดค่าธรรมเนียมสำหรับผู้แยกขยะ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1840" y="4297680"/>
            <a:ext cx="109728" cy="347472"/>
          </a:xfrm>
          <a:prstGeom prst="rect">
            <a:avLst/>
          </a:prstGeom>
          <a:solidFill>
            <a:srgbClr val="D4891C"/>
          </a:solidFill>
          <a:ln w="12700">
            <a:solidFill>
              <a:srgbClr val="D489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รณรงค์ให้ความรู้ประชาชน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0760" y="118872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188720"/>
            <a:ext cx="2788920" cy="749808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ระยะที่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เดือน 7–12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20116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ขยายผลและวัดผล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2487168"/>
            <a:ext cx="109728" cy="347472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ขยายธนาคารขยะครอบคลุมทุกหมู่บ้าน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090672"/>
            <a:ext cx="109728" cy="347472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0723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เจรจาเปลี่ยนสัญญาค่าทิ้งขยะ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3694176"/>
            <a:ext cx="109728" cy="347472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675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ติดตั้งระบบชั่งน้ำหนักและบันทึกข้อมูล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17920" y="4297680"/>
            <a:ext cx="109728" cy="347472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รายงานผลประหยัดต่อสภา อปท.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7A44">
              <a:alpha val="25000"/>
            </a:srgbClr>
          </a:solidFill>
          <a:ln w="12700">
            <a:solidFill>
              <a:srgbClr val="1A7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474720"/>
            <a:ext cx="3200400" cy="3200400"/>
          </a:xfrm>
          <a:prstGeom prst="ellipse">
            <a:avLst/>
          </a:prstGeom>
          <a:solidFill>
            <a:srgbClr val="2AA05A">
              <a:alpha val="20000"/>
            </a:srgbClr>
          </a:solidFill>
          <a:ln w="12700">
            <a:solidFill>
              <a:srgbClr val="2AA05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200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สรุปข้อเสนอแนะ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029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ปัญหาหลักคือ 'ขยะหนักเกินไป' ไม่ใช่แค่ 'เก็บเงินไม่ได้'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แก้ที่ต้นเหตุด้วยการส่งเสริมแยกขยะเปียก/แห้ง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5029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3911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การลงทุนในระบบดิจิทัล + ถังหมักปุ๋ย มีผลตอบแทนสูงมาก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คืนทุนภายใน 6–12 เดือน ประหยัดได้ปีละ 1.3–1.5 ล้านบาท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5029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2666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กฎกระทรวง พ.ศ. 2567 ให้อำนาจ อปท. ลดค่าธรรมเนียมสำหรับผู้แยกขยะแล้ว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ควรออกข้อบัญญัติท้องถิ่นและดำเนินการโดยเร็ว ก่อน พ.ย. 2569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014216"/>
            <a:ext cx="5029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01421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142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ระบบดิจิทัลเป็นแกนกลางเชื่อมทุกมาตรการเข้าด้วยกัน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 อปท. มีข้อมูลเพื่อตัดสินใจและรายงานต่อหน่วยงานกำกับ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แก้วิกฤตขยะ อปท. ชนบท</dc:title>
  <dc:subject>PptxGenJS Presentation</dc:subject>
  <dc:creator>PptxGenJS</dc:creator>
  <cp:lastModifiedBy>PptxGenJS</cp:lastModifiedBy>
  <cp:revision>1</cp:revision>
  <dcterms:created xsi:type="dcterms:W3CDTF">2026-04-20T03:55:56Z</dcterms:created>
  <dcterms:modified xsi:type="dcterms:W3CDTF">2026-04-20T03:55:56Z</dcterms:modified>
</cp:coreProperties>
</file>